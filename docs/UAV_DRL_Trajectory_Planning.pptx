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DRL Policy (SAC)</c:v>
                </c:pt>
              </c:strCache>
            </c:strRef>
          </c:tx>
          <c:spPr>
            <a:solidFill>
              <a:srgbClr val="F4A825"/>
            </a:solidFill>
            <a:ln w="38100" cap="flat">
              <a:solidFill>
                <a:srgbClr val="F4A82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CBD5E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4A825"/>
              </a:solidFill>
              <a:ln w="9525" cap="flat">
                <a:solidFill>
                  <a:srgbClr val="F4A82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70</c:v>
                  </c:pt>
                  <c:pt idx="1">
                    <c:v>80</c:v>
                  </c:pt>
                  <c:pt idx="2">
                    <c:v>90</c:v>
                  </c:pt>
                  <c:pt idx="3">
                    <c:v>100</c:v>
                  </c:pt>
                  <c:pt idx="4">
                    <c:v>110</c:v>
                  </c:pt>
                  <c:pt idx="5">
                    <c:v>120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</c:v>
                </c:pt>
                <c:pt idx="1">
                  <c:v>360</c:v>
                </c:pt>
                <c:pt idx="2">
                  <c:v>310</c:v>
                </c:pt>
                <c:pt idx="3">
                  <c:v>280</c:v>
                </c:pt>
                <c:pt idx="4">
                  <c:v>260</c:v>
                </c:pt>
                <c:pt idx="5">
                  <c:v>250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Classical Baseline</c:v>
                </c:pt>
              </c:strCache>
            </c:strRef>
          </c:tx>
          <c:spPr>
            <a:solidFill>
              <a:srgbClr val="5AA9E6"/>
            </a:solidFill>
            <a:ln w="38100" cap="flat">
              <a:solidFill>
                <a:srgbClr val="5AA9E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CBD5E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AA9E6"/>
              </a:solidFill>
              <a:ln w="9525" cap="flat">
                <a:solidFill>
                  <a:srgbClr val="5AA9E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70</c:v>
                  </c:pt>
                  <c:pt idx="1">
                    <c:v>80</c:v>
                  </c:pt>
                  <c:pt idx="2">
                    <c:v>90</c:v>
                  </c:pt>
                  <c:pt idx="3">
                    <c:v>100</c:v>
                  </c:pt>
                  <c:pt idx="4">
                    <c:v>110</c:v>
                  </c:pt>
                  <c:pt idx="5">
                    <c:v>120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470</c:v>
                </c:pt>
                <c:pt idx="1">
                  <c:v>410</c:v>
                </c:pt>
                <c:pt idx="2">
                  <c:v>365</c:v>
                </c:pt>
                <c:pt idx="3">
                  <c:v>335</c:v>
                </c:pt>
                <c:pt idx="4">
                  <c:v>320</c:v>
                </c:pt>
                <c:pt idx="5">
                  <c:v>310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CBD5E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CBD5E1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CBD5E1"/>
                    </a:solidFill>
                    <a:latin typeface="Arial"/>
                  </a:rPr>
                  <a:t>Flight Time (min)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C3A5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CBD5E1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CBD5E1"/>
                    </a:solidFill>
                    <a:latin typeface="Arial"/>
                  </a:rPr>
                  <a:t>Fuel Consumed (kg)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2926080" cy="2926080"/>
          </a:xfrm>
          <a:prstGeom prst="ellipse">
            <a:avLst/>
          </a:prstGeom>
          <a:solidFill>
            <a:srgbClr val="2E3B5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2E3B55"/>
          </a:solidFill>
          <a:ln/>
        </p:spPr>
      </p:sp>
      <p:pic>
        <p:nvPicPr>
          <p:cNvPr id="5" name="Image 0" descr="/home/claude/ppt/icon_pl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036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PROJECT PROPOSAL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Reinforcement Learning for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Energy-Optimal Trajectory Planning of UAVs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Airspace and Environmental Constraints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983480"/>
            <a:ext cx="1005840" cy="0"/>
          </a:xfrm>
          <a:prstGeom prst="line">
            <a:avLst/>
          </a:prstGeom>
          <a:noFill/>
          <a:ln w="38100">
            <a:solidFill>
              <a:srgbClr val="F4A82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166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Engineering • Reinforcement Learning • Aerospace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5532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/ DDPG • Point-Mass Dynamics • Optimal Control Baseline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Problem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is the single largest recurring cost and emissions driver in aerial operations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93392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7" name="Image 0" descr="/home/claude/ppt/icon_batt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2140793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933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is finite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2651760"/>
            <a:ext cx="47000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UAVs and aircraft operate under strict fuel/battery budgets — every kg of fuel or % of charge shapes mission range and payload.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80760" y="173736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36792" y="1993392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2" name="Image 1" descr="/home/claude/ppt/icon_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193" y="2140793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199339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profiles are suboptimal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336792" y="2651760"/>
            <a:ext cx="47000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climb-cruise-descent profiles ignore live wind fields and airspace layout, leaving fuel savings on the table.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4416552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7" name="Image 2" descr="/home/claude/ppt/icon_b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" y="4563953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4165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 are dynamic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04672" y="5074920"/>
            <a:ext cx="47000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No-fly zones, altitude ceilings, and weather change mission-to-mission — static lookup tables can't adapt in real time.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080760" y="416052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336792" y="4416552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2" name="Image 3" descr="/home/claude/ppt/icon_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193" y="4563953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86600" y="44165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DRL learns adaptive policies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336792" y="5074920"/>
            <a:ext cx="47000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agent can generalize across conditions, replanning trajectories on the fly to balance fuel, time, and safety.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66928" cy="566928"/>
          </a:xfrm>
          <a:prstGeom prst="ellipse">
            <a:avLst/>
          </a:prstGeom>
          <a:solidFill>
            <a:srgbClr val="2E3B55"/>
          </a:solidFill>
          <a:ln/>
        </p:spPr>
      </p:sp>
      <p:pic>
        <p:nvPicPr>
          <p:cNvPr id="5" name="Image 0" descr="/home/claude/ppt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56472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6245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737360" y="139903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 MDP formulation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176479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state, action, and reward structure for UAV energy-optimal trajectory planning.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212848"/>
            <a:ext cx="10881360" cy="0"/>
          </a:xfrm>
          <a:prstGeom prst="line">
            <a:avLst/>
          </a:prstGeom>
          <a:noFill/>
          <a:ln w="9525">
            <a:solidFill>
              <a:srgbClr val="2C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350008"/>
            <a:ext cx="566928" cy="566928"/>
          </a:xfrm>
          <a:prstGeom prst="ellipse">
            <a:avLst/>
          </a:prstGeom>
          <a:solidFill>
            <a:srgbClr val="2E3B55"/>
          </a:solidFill>
          <a:ln/>
        </p:spPr>
      </p:sp>
      <p:pic>
        <p:nvPicPr>
          <p:cNvPr id="11" name="Image 1" descr="/home/claude/ppt/icon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49740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29514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737360" y="233172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a continuous-control DRL agent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737360" y="26974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SAC/DDPG to learn climb-cruise-descent policies minimizing fuel/energy use.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145536"/>
            <a:ext cx="10881360" cy="0"/>
          </a:xfrm>
          <a:prstGeom prst="line">
            <a:avLst/>
          </a:prstGeom>
          <a:noFill/>
          <a:ln w="9525">
            <a:solidFill>
              <a:srgbClr val="2C3A5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3282696"/>
            <a:ext cx="566928" cy="566928"/>
          </a:xfrm>
          <a:prstGeom prst="ellipse">
            <a:avLst/>
          </a:prstGeom>
          <a:solidFill>
            <a:srgbClr val="2E3B55"/>
          </a:solidFill>
          <a:ln/>
        </p:spPr>
      </p:sp>
      <p:pic>
        <p:nvPicPr>
          <p:cNvPr id="17" name="Image 2" descr="/home/claude/ppt/icon_b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430097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2278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737360" y="3264408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operational constraints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737360" y="363016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no-fly zones, altitude limits, and wind disturbance within the learned policy.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4078224"/>
            <a:ext cx="10881360" cy="0"/>
          </a:xfrm>
          <a:prstGeom prst="line">
            <a:avLst/>
          </a:prstGeom>
          <a:noFill/>
          <a:ln w="9525">
            <a:solidFill>
              <a:srgbClr val="2C3A5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48640" y="4215384"/>
            <a:ext cx="566928" cy="566928"/>
          </a:xfrm>
          <a:prstGeom prst="ellipse">
            <a:avLst/>
          </a:prstGeom>
          <a:solidFill>
            <a:srgbClr val="2E3B55"/>
          </a:solidFill>
          <a:ln/>
        </p:spPr>
      </p:sp>
      <p:pic>
        <p:nvPicPr>
          <p:cNvPr id="23" name="Image 3" descr="/home/claude/ppt/icon_bal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4362785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34440" y="4160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737360" y="4197096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against classical control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737360" y="4562856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a dynamic-programming / optimal-control baseline on the same task.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48640" y="5010912"/>
            <a:ext cx="10881360" cy="0"/>
          </a:xfrm>
          <a:prstGeom prst="line">
            <a:avLst/>
          </a:prstGeom>
          <a:noFill/>
          <a:ln w="9525">
            <a:solidFill>
              <a:srgbClr val="2C3A5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48640" y="5148072"/>
            <a:ext cx="566928" cy="566928"/>
          </a:xfrm>
          <a:prstGeom prst="ellipse">
            <a:avLst/>
          </a:prstGeom>
          <a:solidFill>
            <a:srgbClr val="2E3B55"/>
          </a:solidFill>
          <a:ln/>
        </p:spPr>
      </p:sp>
      <p:pic>
        <p:nvPicPr>
          <p:cNvPr id="29" name="Image 4" descr="/home/claude/ppt/icon_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5295473"/>
            <a:ext cx="272125" cy="27212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34440" y="509320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1737360" y="5129784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Characterize fuel-vs-time trade-offs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1737360" y="549554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Pareto trade-off curves and robustness sweeps for evaluation.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Formulation — MDP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Point-mass energy dynamics model as the DRL environment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642616"/>
            <a:ext cx="82296" cy="8229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871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(x, y), altitude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" y="3209544"/>
            <a:ext cx="82296" cy="8229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05409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Velocity, heading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" y="3776472"/>
            <a:ext cx="82296" cy="8229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2102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remaining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" y="4343400"/>
            <a:ext cx="82296" cy="8229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8795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goal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" y="4910328"/>
            <a:ext cx="82296" cy="8229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754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vector (wx, wy)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97680" y="160020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5AA9E6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160020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97680" y="228600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53712" y="2642616"/>
            <a:ext cx="82296" cy="82296"/>
          </a:xfrm>
          <a:prstGeom prst="ellipse">
            <a:avLst/>
          </a:prstGeom>
          <a:solidFill>
            <a:srgbClr val="5AA9E6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4871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 command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53712" y="3209544"/>
            <a:ext cx="82296" cy="82296"/>
          </a:xfrm>
          <a:prstGeom prst="ellipse">
            <a:avLst/>
          </a:prstGeom>
          <a:solidFill>
            <a:srgbClr val="5AA9E6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05409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Climb-rate command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53712" y="3776472"/>
            <a:ext cx="82296" cy="82296"/>
          </a:xfrm>
          <a:prstGeom prst="ellipse">
            <a:avLst/>
          </a:prstGeom>
          <a:solidFill>
            <a:srgbClr val="5AA9E6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62102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Heading-rate command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46720" y="1600200"/>
            <a:ext cx="3520440" cy="594360"/>
          </a:xfrm>
          <a:prstGeom prst="roundRect">
            <a:avLst>
              <a:gd name="adj" fmla="val 12308"/>
            </a:avLst>
          </a:prstGeom>
          <a:solidFill>
            <a:srgbClr val="F4A825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0" y="160020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046720" y="228600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2752" y="2642616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24871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Fuel burn rate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02752" y="3209544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305409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Time penalty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02752" y="3776472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362102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Constraint violation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02752" y="4343400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18795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Progress toward goal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Reward: R = −w₁·fuel − w₂·time − w₃·violation − w₄·altitude_dev + w₅·progress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 Referred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91640"/>
            <a:ext cx="777240" cy="7772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6" name="Image 0" descr="/home/claude/ppt/icon_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18937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600200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Fuel- and Noise-Minimal Departure Trajectory Using Deep Reinforcement</a:t>
            </a:r>
            <a:endParaRPr lang="en-US" sz="16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with Aircraft Dynamics and Topography Constraints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874520" y="2359152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 Transportation Engineering (ScienceDirect), 2025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74520" y="274320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Formulates the aircraft climb-departure trajectory as a DRL problem, optimizing a fuel-and-noise reward under real aircraft dynamics and topography constraints — the same problem structure this project adopts, narrowed to a fuel/energy-only objective with airspace no-fly constraints.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paper anchors the project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94360" y="4572000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40740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DRL (not classical trajectory optimization) for a real flight-dynamics problem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" y="5074920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91032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directly penalizes fuel consumption — the core objective of this project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" y="5577840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41324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Incorporates operational constraints (topography) analogous to no-fly zones here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 → Our Increment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Reference [1] does, and what this project adds on top of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88720" y="123444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26314E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23444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[1] — 2025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64808" y="123444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4A825"/>
          </a:solidFill>
          <a:ln/>
        </p:spPr>
      </p:sp>
      <p:sp>
        <p:nvSpPr>
          <p:cNvPr id="8" name="Text 6"/>
          <p:cNvSpPr/>
          <p:nvPr/>
        </p:nvSpPr>
        <p:spPr>
          <a:xfrm>
            <a:off x="6464808" y="123444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INCREMENT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11064240" cy="576072"/>
          </a:xfrm>
          <a:prstGeom prst="roundRect">
            <a:avLst>
              <a:gd name="adj" fmla="val 9524"/>
            </a:avLst>
          </a:prstGeom>
          <a:solidFill>
            <a:srgbClr val="2E3B55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842516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1" name="Image 0" descr="/home/claude/ppt/icon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961388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88720" y="1819656"/>
            <a:ext cx="4892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only the climb / departure phase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64808" y="1819656"/>
            <a:ext cx="4892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to full climb–cruise–descent profile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2450592"/>
            <a:ext cx="11064240" cy="576072"/>
          </a:xfrm>
          <a:prstGeom prst="roundRect">
            <a:avLst>
              <a:gd name="adj" fmla="val 9524"/>
            </a:avLst>
          </a:prstGeom>
          <a:solidFill>
            <a:srgbClr val="26314E"/>
          </a:solidFill>
          <a:ln/>
        </p:spPr>
      </p:sp>
      <p:sp>
        <p:nvSpPr>
          <p:cNvPr id="15" name="Shape 12"/>
          <p:cNvSpPr/>
          <p:nvPr/>
        </p:nvSpPr>
        <p:spPr>
          <a:xfrm>
            <a:off x="621792" y="2510028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6" name="Image 1" descr="/home/claude/ppt/icon_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628900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88720" y="2487168"/>
            <a:ext cx="4892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fuel + noise objective (coupled trade-off)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464808" y="2487168"/>
            <a:ext cx="4892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fuel/energy-only objective for a cleaner signal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" y="3118104"/>
            <a:ext cx="11064240" cy="576072"/>
          </a:xfrm>
          <a:prstGeom prst="roundRect">
            <a:avLst>
              <a:gd name="adj" fmla="val 9524"/>
            </a:avLst>
          </a:prstGeom>
          <a:solidFill>
            <a:srgbClr val="2E3B55"/>
          </a:solidFill>
          <a:ln/>
        </p:spPr>
      </p:sp>
      <p:sp>
        <p:nvSpPr>
          <p:cNvPr id="20" name="Shape 16"/>
          <p:cNvSpPr/>
          <p:nvPr/>
        </p:nvSpPr>
        <p:spPr>
          <a:xfrm>
            <a:off x="621792" y="317754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1" name="Image 2" descr="/home/claude/ppt/icon_b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296412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88720" y="3154680"/>
            <a:ext cx="4892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by topography only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464808" y="3154680"/>
            <a:ext cx="4892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airspace no-fly zones + wind disturbance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48640" y="3785616"/>
            <a:ext cx="11064240" cy="576072"/>
          </a:xfrm>
          <a:prstGeom prst="roundRect">
            <a:avLst>
              <a:gd name="adj" fmla="val 9524"/>
            </a:avLst>
          </a:prstGeom>
          <a:solidFill>
            <a:srgbClr val="26314E"/>
          </a:solidFill>
          <a:ln/>
        </p:spPr>
      </p:sp>
      <p:sp>
        <p:nvSpPr>
          <p:cNvPr id="25" name="Shape 20"/>
          <p:cNvSpPr/>
          <p:nvPr/>
        </p:nvSpPr>
        <p:spPr>
          <a:xfrm>
            <a:off x="621792" y="3845052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6" name="Image 3" descr="/home/claude/ppt/icon_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963924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88720" y="3822192"/>
            <a:ext cx="4892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Paper-specific aircraft dynamics model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464808" y="3822192"/>
            <a:ext cx="4892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OpenAP fuel/thrust data in a custom Gym env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48640" y="4453128"/>
            <a:ext cx="11064240" cy="576072"/>
          </a:xfrm>
          <a:prstGeom prst="roundRect">
            <a:avLst>
              <a:gd name="adj" fmla="val 9524"/>
            </a:avLst>
          </a:prstGeom>
          <a:solidFill>
            <a:srgbClr val="2E3B55"/>
          </a:solidFill>
          <a:ln/>
        </p:spPr>
      </p:sp>
      <p:sp>
        <p:nvSpPr>
          <p:cNvPr id="30" name="Shape 24"/>
          <p:cNvSpPr/>
          <p:nvPr/>
        </p:nvSpPr>
        <p:spPr>
          <a:xfrm>
            <a:off x="621792" y="4512564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1" name="Image 4" descr="/home/claude/ppt/icon_sw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4631436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188720" y="4489704"/>
            <a:ext cx="4892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classical baseline reported for comparison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6464808" y="4489704"/>
            <a:ext cx="4892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Dynamic-programming baseline built — hard-constraint, zero-violation path (487 kg, verified)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548640" y="5120640"/>
            <a:ext cx="11064240" cy="576072"/>
          </a:xfrm>
          <a:prstGeom prst="roundRect">
            <a:avLst>
              <a:gd name="adj" fmla="val 9524"/>
            </a:avLst>
          </a:prstGeom>
          <a:solidFill>
            <a:srgbClr val="26314E"/>
          </a:solidFill>
          <a:ln/>
        </p:spPr>
      </p:sp>
      <p:sp>
        <p:nvSpPr>
          <p:cNvPr id="35" name="Shape 28"/>
          <p:cNvSpPr/>
          <p:nvPr/>
        </p:nvSpPr>
        <p:spPr>
          <a:xfrm>
            <a:off x="621792" y="5180076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6" name="Image 5" descr="/home/claude/ppt/icon_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5298948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188720" y="5157216"/>
            <a:ext cx="4892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Single-point performance reporting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6464808" y="5157216"/>
            <a:ext cx="4892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Fuel-vs-time Pareto frontier + out-of-distribution wind/zone testing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548640" y="5843016"/>
            <a:ext cx="11064240" cy="530352"/>
          </a:xfrm>
          <a:prstGeom prst="roundRect">
            <a:avLst>
              <a:gd name="adj" fmla="val 13793"/>
            </a:avLst>
          </a:prstGeom>
          <a:solidFill>
            <a:srgbClr val="0F172A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731520" y="5843016"/>
            <a:ext cx="10698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increment:  </a:t>
            </a:r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single-phase, joint fuel-noise optimization → full-profile, fuel-only, generalization-tested, Pareto-characterized framework — with the environment and DP baseline already implemented and verified.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2E3B5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6" name="Image 0" descr="/home/claude/ppt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7785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481328"/>
            <a:ext cx="9692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climb-cruise-descent profiles do not adapt to live wind conditions or airspace layout, leaving fuel and energy savings unrealized — while classical re-optimization for every new scenario is computationally expensive for real-time use.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asks: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a DRL agent learn a single adaptive policy that plans fuel/energy-optimal climb-cruise-descent trajectories for a UAV, subject to no-fly zones and wind disturbance, that generalizes across conditions without re-solving from scratch?”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4360" y="5029200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486460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Manual/static profiles ignore real-time wind and constraint changes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4360" y="5486400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532180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optimal control is accurate but too slow for on-the-fly replanning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" y="5943600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77900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policy could offer near-optimal fuel efficiency with fast inference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labeled dataset is needed for training — data is generated through simulation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7" name="Image 0" descr="/home/claude/ppt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2095073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476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2606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aircraft performance library — provides thrust, drag, and fuel-flow models per aircraft type, used to build a realistic fuel-burn function for the environment.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80760" y="169164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36792" y="1947672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2" name="Image 1" descr="/home/claude/ppt/icon_weath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193" y="2095073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19476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 Wind Fields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336792" y="2606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wind vectors (constant, gust, or simple stochastic models) generated in-environment to test robustness — no external dataset needed.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4416552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7" name="Image 2" descr="/home/claude/ppt/icon_b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" y="4563953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4165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Airspace Layouts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04672" y="507492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Procedurally defined no-fly zones and altitude ceilings, randomized across training episodes for generalization.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080760" y="4160520"/>
            <a:ext cx="52120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336792" y="4416552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2" name="Image 3" descr="/home/claude/ppt/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193" y="4563953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86600" y="44165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Self-Generated Rollouts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336792" y="507492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DRL agent generates its own training data (state-action-reward trajectories) through repeated simulation episodes — standard for RL.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Study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2E3B55"/>
          </a:solidFill>
          <a:ln/>
        </p:spPr>
      </p:sp>
      <p:sp>
        <p:nvSpPr>
          <p:cNvPr id="5" name="Shape 3"/>
          <p:cNvSpPr/>
          <p:nvPr/>
        </p:nvSpPr>
        <p:spPr>
          <a:xfrm>
            <a:off x="1965960" y="1645920"/>
            <a:ext cx="685800" cy="6858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6" name="Image 0" descr="/home/claude/ppt/icon_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4268" y="18242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688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04672" y="3090672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9" name="Text 6"/>
          <p:cNvSpPr/>
          <p:nvPr/>
        </p:nvSpPr>
        <p:spPr>
          <a:xfrm>
            <a:off x="987552" y="290779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open-source tools: Gymnasium, Stable-Baselines3, OpenAP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04672" y="3867912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1" name="Text 8"/>
          <p:cNvSpPr/>
          <p:nvPr/>
        </p:nvSpPr>
        <p:spPr>
          <a:xfrm>
            <a:off x="987552" y="368503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Point-mass model avoids full 6-DOF simulator complexity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4672" y="4645152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987552" y="446227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SAC/DDPG are well-documented for continuous control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43400" y="13716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2E3B55"/>
          </a:solidFill>
          <a:ln/>
        </p:spPr>
      </p:sp>
      <p:sp>
        <p:nvSpPr>
          <p:cNvPr id="15" name="Shape 12"/>
          <p:cNvSpPr/>
          <p:nvPr/>
        </p:nvSpPr>
        <p:spPr>
          <a:xfrm>
            <a:off x="5760720" y="1645920"/>
            <a:ext cx="685800" cy="6858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6" name="Image 1" descr="/home/claude/ppt/icon_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028" y="182422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43400" y="24688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(3 months)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599432" y="3090672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9" name="Text 15"/>
          <p:cNvSpPr/>
          <p:nvPr/>
        </p:nvSpPr>
        <p:spPr>
          <a:xfrm>
            <a:off x="4782312" y="290779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Single-agent, single-aircraft scope fits a 12-week plan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599432" y="3867912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21" name="Text 17"/>
          <p:cNvSpPr/>
          <p:nvPr/>
        </p:nvSpPr>
        <p:spPr>
          <a:xfrm>
            <a:off x="4782312" y="368503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hardware/flight test dependency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599432" y="4645152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23" name="Text 19"/>
          <p:cNvSpPr/>
          <p:nvPr/>
        </p:nvSpPr>
        <p:spPr>
          <a:xfrm>
            <a:off x="4782312" y="446227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scope vs. multi-aircraft/ATC problems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138160" y="13716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2E3B55"/>
          </a:solidFill>
          <a:ln/>
        </p:spPr>
      </p:sp>
      <p:sp>
        <p:nvSpPr>
          <p:cNvPr id="25" name="Shape 21"/>
          <p:cNvSpPr/>
          <p:nvPr/>
        </p:nvSpPr>
        <p:spPr>
          <a:xfrm>
            <a:off x="9555480" y="1645920"/>
            <a:ext cx="685800" cy="6858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6" name="Image 2" descr="/home/claude/ppt/icon_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3788" y="1824228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138160" y="24688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8394192" y="3090672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29" name="Text 24"/>
          <p:cNvSpPr/>
          <p:nvPr/>
        </p:nvSpPr>
        <p:spPr>
          <a:xfrm>
            <a:off x="8577072" y="290779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single GPU/CPU workstation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394192" y="3867912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31" name="Text 26"/>
          <p:cNvSpPr/>
          <p:nvPr/>
        </p:nvSpPr>
        <p:spPr>
          <a:xfrm>
            <a:off x="8577072" y="368503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datasets or licensing required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8394192" y="4645152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33" name="Text 28"/>
          <p:cNvSpPr/>
          <p:nvPr/>
        </p:nvSpPr>
        <p:spPr>
          <a:xfrm>
            <a:off x="8577072" y="446227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 (1–2 members) sufficient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Verdict: feasible within 3 months with a tightly scoped single-aircraft, static-constraint version of the problem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 Involved — Implementation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5" name="Image 0" descr="/home/claude/ppt/icon_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15599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36245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91640" y="13990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&amp; dynamics setup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91640" y="175564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custom Gymnasium env with point-mass kinematics + OpenAP-based fuel model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194560"/>
            <a:ext cx="10881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313432"/>
            <a:ext cx="548640" cy="5486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1" name="Image 1" descr="/home/claude/ppt/icon_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245607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07008" y="22585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691640" y="22951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baseline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1691640" y="265176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dynamic-programming / optimal-control solver for comparison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090672"/>
            <a:ext cx="10881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3209544"/>
            <a:ext cx="548640" cy="5486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7" name="Image 2" descr="/home/claude/ppt/icon_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3352190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7008" y="3154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691640" y="319125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DRL agent training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691640" y="3547872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SAC/DDPG via Stable-Baselines3; iterate on reward shaping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3986784"/>
            <a:ext cx="10881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48640" y="4105656"/>
            <a:ext cx="548640" cy="5486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3" name="Image 3" descr="/home/claude/ppt/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4248302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07008" y="40507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691640" y="40873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1691640" y="444398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Fuel-vs-time Pareto curves, robustness sweeps on unseen wind/zones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4882896"/>
            <a:ext cx="10881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48640" y="5001768"/>
            <a:ext cx="548640" cy="5486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9" name="Image 4" descr="/home/claude/ppt/icon_checkl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5144414"/>
            <a:ext cx="263347" cy="263347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07008" y="494690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1691640" y="4983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550" dirty="0"/>
          </a:p>
        </p:txBody>
      </p:sp>
      <p:sp>
        <p:nvSpPr>
          <p:cNvPr id="32" name="Text 25"/>
          <p:cNvSpPr/>
          <p:nvPr/>
        </p:nvSpPr>
        <p:spPr>
          <a:xfrm>
            <a:off x="1691640" y="5340096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results, trajectories, and trade-off analysis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Papers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2E3B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[1]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14630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Fuel- and noise-minimal departure trajectory using DRL with aircraft dynamics and topography constraints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Engineering (ScienceDirect), 2025 — Base Paper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2E3B5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[2]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4231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 for Trajectory Generation and Optimisation of UAVs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283464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DDPG-based quadcopter trajectory optimization, KU Leuven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2E3B5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91840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[3]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338328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Trajectory Planning in Wireless Sensor Networks for Energy Consumption Minimization by Deep Reinforcement Learning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379476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arXiv:2108.00354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2E3B5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51960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[4]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3434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Energy-Efficient UAV Trajectory Design for Backscatter Communication: A Deep Reinforcement Learning Approach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475488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Journals &amp; Magazine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2E3B5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212080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[5]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53035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Freshness and Energy-Efficient UAV Navigation Optimization: A Deep Reinforcement Learning Approach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571500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Trans. Intelligent Transportation Systems, 2020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trained SAC/DDPG policy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generates fuel-efficient climb–cruise–descent trajectories in real time, adapting to wind and static no-fly constraints without re-optimization.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566160"/>
            <a:ext cx="914400" cy="0"/>
          </a:xfrm>
          <a:prstGeom prst="line">
            <a:avLst/>
          </a:prstGeom>
          <a:noFill/>
          <a:ln w="25400">
            <a:solidFill>
              <a:srgbClr val="F4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4187952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023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policy + training curves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4572000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0740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 results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956048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79145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Fuel-vs-time Pareto analysis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5340096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1755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/ thesis chapter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169164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492240" y="25603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fuel savings vs. fixed-profile baseline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356616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388620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492240" y="47548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inference speed vs. re-solved optimal control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56616" y="21945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E3B55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0996" y="2468880"/>
            <a:ext cx="777240" cy="7772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6" name="Image 0" descr="/home/claude/ppt/icon_weat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078" y="26709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6616" y="3364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93776" y="3703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Point-mass dynamics,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field, no-fly zones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15768" y="3136392"/>
            <a:ext cx="630936" cy="219456"/>
          </a:xfrm>
          <a:prstGeom prst="rightArrow">
            <a:avLst/>
          </a:prstGeom>
          <a:solidFill>
            <a:srgbClr val="F4A825"/>
          </a:solidFill>
          <a:ln/>
        </p:spPr>
      </p:sp>
      <p:sp>
        <p:nvSpPr>
          <p:cNvPr id="10" name="Shape 7"/>
          <p:cNvSpPr/>
          <p:nvPr/>
        </p:nvSpPr>
        <p:spPr>
          <a:xfrm>
            <a:off x="3419856" y="21945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E3B55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74236" y="2468880"/>
            <a:ext cx="777240" cy="7772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2" name="Image 1" descr="/home/claude/ppt/icon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318" y="267096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9856" y="3364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DRL Agent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57016" y="3703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/ DDPG policy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value networks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779008" y="3136392"/>
            <a:ext cx="630936" cy="219456"/>
          </a:xfrm>
          <a:prstGeom prst="rightArrow">
            <a:avLst/>
          </a:prstGeom>
          <a:solidFill>
            <a:srgbClr val="F4A825"/>
          </a:solidFill>
          <a:ln/>
        </p:spPr>
      </p:sp>
      <p:sp>
        <p:nvSpPr>
          <p:cNvPr id="16" name="Shape 12"/>
          <p:cNvSpPr/>
          <p:nvPr/>
        </p:nvSpPr>
        <p:spPr>
          <a:xfrm>
            <a:off x="6483096" y="21945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E3B55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37476" y="2468880"/>
            <a:ext cx="777240" cy="7772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8" name="Image 2" descr="/home/claude/ppt/icon_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558" y="267096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83096" y="3364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620256" y="3703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Thrust, climb-rate,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heading-rate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842248" y="3136392"/>
            <a:ext cx="630936" cy="219456"/>
          </a:xfrm>
          <a:prstGeom prst="rightArrow">
            <a:avLst/>
          </a:prstGeom>
          <a:solidFill>
            <a:srgbClr val="F4A825"/>
          </a:solidFill>
          <a:ln/>
        </p:spPr>
      </p:sp>
      <p:sp>
        <p:nvSpPr>
          <p:cNvPr id="22" name="Shape 17"/>
          <p:cNvSpPr/>
          <p:nvPr/>
        </p:nvSpPr>
        <p:spPr>
          <a:xfrm>
            <a:off x="9546336" y="21945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E3B55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300716" y="2468880"/>
            <a:ext cx="777240" cy="7772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4" name="Image 3" descr="/home/claude/ppt/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2798" y="2670962"/>
            <a:ext cx="373075" cy="37307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546336" y="3364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Trajectory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683496" y="3703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Fuel, time, safety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evaluation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trajectory outcome updates agent policy via reward signal (closed-loop training)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3200400" y="5486400"/>
            <a:ext cx="5788152" cy="777240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 w="12700">
            <a:solidFill>
              <a:srgbClr val="F4A82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429000" y="548640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baseline:  </a:t>
            </a:r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optimal-control (DP) solver on the same environment for benchmarking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1737360"/>
            <a:ext cx="822960" cy="82296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6" name="Image 0" descr="/home/claude/ppt/icon_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1350" y="19513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743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05840" y="3374136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9" name="Text 6"/>
          <p:cNvSpPr/>
          <p:nvPr/>
        </p:nvSpPr>
        <p:spPr>
          <a:xfrm>
            <a:off x="1207008" y="32004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Gymnasium env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005840" y="3877056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1" name="Text 8"/>
          <p:cNvSpPr/>
          <p:nvPr/>
        </p:nvSpPr>
        <p:spPr>
          <a:xfrm>
            <a:off x="1207008" y="37033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Point-mass energy model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05840" y="4379976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1207008" y="4206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wind field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43400" y="141732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92140" y="1737360"/>
            <a:ext cx="822960" cy="82296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6" name="Image 1" descr="/home/claude/ppt/icon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6110" y="1951330"/>
            <a:ext cx="395021" cy="39502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43400" y="2743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DRL Framework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800600" y="3374136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9" name="Text 15"/>
          <p:cNvSpPr/>
          <p:nvPr/>
        </p:nvSpPr>
        <p:spPr>
          <a:xfrm>
            <a:off x="5001768" y="32004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Stable-Baselines3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800600" y="3877056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21" name="Text 17"/>
          <p:cNvSpPr/>
          <p:nvPr/>
        </p:nvSpPr>
        <p:spPr>
          <a:xfrm>
            <a:off x="5001768" y="37033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(primary), DDPG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800600" y="4379976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23" name="Text 19"/>
          <p:cNvSpPr/>
          <p:nvPr/>
        </p:nvSpPr>
        <p:spPr>
          <a:xfrm>
            <a:off x="5001768" y="4206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TensorBoard logging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138160" y="141732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9486900" y="1737360"/>
            <a:ext cx="822960" cy="82296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6" name="Image 2" descr="/home/claude/ppt/icon_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0870" y="1951330"/>
            <a:ext cx="395021" cy="395021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138160" y="27432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&amp; Analysis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8595360" y="3374136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29" name="Text 24"/>
          <p:cNvSpPr/>
          <p:nvPr/>
        </p:nvSpPr>
        <p:spPr>
          <a:xfrm>
            <a:off x="8796528" y="32004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programming solver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8595360" y="3877056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31" name="Text 26"/>
          <p:cNvSpPr/>
          <p:nvPr/>
        </p:nvSpPr>
        <p:spPr>
          <a:xfrm>
            <a:off x="8796528" y="37033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SciPy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8595360" y="4379976"/>
            <a:ext cx="73152" cy="73152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33" name="Text 28"/>
          <p:cNvSpPr/>
          <p:nvPr/>
        </p:nvSpPr>
        <p:spPr>
          <a:xfrm>
            <a:off x="8796528" y="42062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for Pareto plots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Timeline — 12 Weeks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31620" y="3017520"/>
            <a:ext cx="9125712" cy="0"/>
          </a:xfrm>
          <a:prstGeom prst="line">
            <a:avLst/>
          </a:prstGeom>
          <a:noFill/>
          <a:ln w="38100">
            <a:solidFill>
              <a:srgbClr val="3A4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4460" y="2880360"/>
            <a:ext cx="274320" cy="274320"/>
          </a:xfrm>
          <a:prstGeom prst="ellipse">
            <a:avLst/>
          </a:prstGeom>
          <a:solidFill>
            <a:srgbClr val="F4A825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1620" y="2697480"/>
            <a:ext cx="0" cy="182880"/>
          </a:xfrm>
          <a:prstGeom prst="line">
            <a:avLst/>
          </a:prstGeom>
          <a:noFill/>
          <a:ln w="19050">
            <a:solidFill>
              <a:srgbClr val="3A4A7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2E3B5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933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dynamics &amp; fuel model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75888" y="2880360"/>
            <a:ext cx="274320" cy="274320"/>
          </a:xfrm>
          <a:prstGeom prst="ellipse">
            <a:avLst/>
          </a:prstGeom>
          <a:solidFill>
            <a:srgbClr val="F4A825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3048" y="3154680"/>
            <a:ext cx="0" cy="182880"/>
          </a:xfrm>
          <a:prstGeom prst="line">
            <a:avLst/>
          </a:prstGeom>
          <a:noFill/>
          <a:ln w="19050">
            <a:solidFill>
              <a:srgbClr val="3A4A7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830068" y="33375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2E3B55"/>
          </a:solidFill>
          <a:ln/>
        </p:spPr>
      </p:sp>
      <p:sp>
        <p:nvSpPr>
          <p:cNvPr id="14" name="Text 12"/>
          <p:cNvSpPr/>
          <p:nvPr/>
        </p:nvSpPr>
        <p:spPr>
          <a:xfrm>
            <a:off x="2830068" y="3429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1508" y="37033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1508" y="40507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optimal-control implementation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57316" y="2880360"/>
            <a:ext cx="274320" cy="274320"/>
          </a:xfrm>
          <a:prstGeom prst="ellipse">
            <a:avLst/>
          </a:prstGeom>
          <a:solidFill>
            <a:srgbClr val="F4A825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4476" y="2697480"/>
            <a:ext cx="0" cy="182880"/>
          </a:xfrm>
          <a:prstGeom prst="line">
            <a:avLst/>
          </a:prstGeom>
          <a:noFill/>
          <a:ln w="19050">
            <a:solidFill>
              <a:srgbClr val="3A4A7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111496" y="12801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2E3B55"/>
          </a:solidFill>
          <a:ln/>
        </p:spPr>
      </p:sp>
      <p:sp>
        <p:nvSpPr>
          <p:cNvPr id="20" name="Text 18"/>
          <p:cNvSpPr/>
          <p:nvPr/>
        </p:nvSpPr>
        <p:spPr>
          <a:xfrm>
            <a:off x="5111496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02936" y="16459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DRL Training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02936" y="19933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SAC/DDPG training &amp; reward tuning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38744" y="2880360"/>
            <a:ext cx="274320" cy="274320"/>
          </a:xfrm>
          <a:prstGeom prst="ellipse">
            <a:avLst/>
          </a:prstGeom>
          <a:solidFill>
            <a:srgbClr val="F4A825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75904" y="3154680"/>
            <a:ext cx="0" cy="182880"/>
          </a:xfrm>
          <a:prstGeom prst="line">
            <a:avLst/>
          </a:prstGeom>
          <a:noFill/>
          <a:ln w="19050">
            <a:solidFill>
              <a:srgbClr val="3A4A7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392924" y="33375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2E3B55"/>
          </a:solidFill>
          <a:ln/>
        </p:spPr>
      </p:sp>
      <p:sp>
        <p:nvSpPr>
          <p:cNvPr id="26" name="Text 24"/>
          <p:cNvSpPr/>
          <p:nvPr/>
        </p:nvSpPr>
        <p:spPr>
          <a:xfrm>
            <a:off x="7392924" y="34290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84364" y="37033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84364" y="40507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curves, robustness sweeps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520172" y="2880360"/>
            <a:ext cx="274320" cy="274320"/>
          </a:xfrm>
          <a:prstGeom prst="ellipse">
            <a:avLst/>
          </a:prstGeom>
          <a:solidFill>
            <a:srgbClr val="F4A825"/>
          </a:solidFill>
          <a:ln w="38100">
            <a:solidFill>
              <a:srgbClr val="16213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57332" y="2697480"/>
            <a:ext cx="0" cy="182880"/>
          </a:xfrm>
          <a:prstGeom prst="line">
            <a:avLst/>
          </a:prstGeom>
          <a:noFill/>
          <a:ln w="19050">
            <a:solidFill>
              <a:srgbClr val="3A4A7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9674352" y="128016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2E3B55"/>
          </a:solidFill>
          <a:ln/>
        </p:spPr>
      </p:sp>
      <p:sp>
        <p:nvSpPr>
          <p:cNvPr id="32" name="Text 30"/>
          <p:cNvSpPr/>
          <p:nvPr/>
        </p:nvSpPr>
        <p:spPr>
          <a:xfrm>
            <a:off x="9674352" y="13716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11–12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65792" y="16459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765792" y="19933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Writeup &amp; buffer for re-runs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&amp; Expected Outcomes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727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02996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/ energy consumption vs. classical baseline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9" name="Text 7"/>
          <p:cNvSpPr/>
          <p:nvPr/>
        </p:nvSpPr>
        <p:spPr>
          <a:xfrm>
            <a:off x="1078992" y="271576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Flight-time vs. fuel Pareto trade-off curve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566160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340156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to unseen wind &amp; constraint configurations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251960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408736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Constraint-violation rate (no-fly zone incursions)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937760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5" name="Text 13"/>
          <p:cNvSpPr/>
          <p:nvPr/>
        </p:nvSpPr>
        <p:spPr>
          <a:xfrm>
            <a:off x="1078992" y="477316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stability (reward convergence curves)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6002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492240" y="22860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generalizes to disturbances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seen during training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56616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2E3B55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7947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Quantified Trade-off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92240" y="43434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fuel-vs-time-vs-safety frontier for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planners to choose from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vs. Time Trade-off (Illustrative)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shape of results once evaluation sweeps are complete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645920"/>
          <a:ext cx="106984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 &amp; Significance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85800" cy="6858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5" name="Image 0" descr="/home/claude/ppt/ic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16870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9047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alternative to classical trajectory optimization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63040" y="1911096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avoids expensive re-solving for every new scenario — inference is fast once trained.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685800" cy="6858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9" name="Image 1" descr="/home/claude/ppt/icon_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292150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72491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Adaptive, constraint-aware planning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463040" y="3145536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policy generalizes across wind conditions and airspace layouts without re-optimization.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977640"/>
            <a:ext cx="685800" cy="6858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3" name="Image 2" descr="/home/claude/ppt/icon_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415594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95935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Quantified engineering trade-offs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463040" y="4379976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fuel-vs-time-vs-safety analysis supports real mission-planning decisions.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6213E"/>
          </a:solidFill>
          <a:ln/>
        </p:spPr>
      </p:sp>
      <p:sp>
        <p:nvSpPr>
          <p:cNvPr id="17" name="Text 12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 intelligent, fuel-aware autonomy for next-generation aerial systems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943600" cy="59436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5591556" y="1554480"/>
            <a:ext cx="1005840" cy="1005840"/>
          </a:xfrm>
          <a:prstGeom prst="ellipse">
            <a:avLst/>
          </a:prstGeom>
          <a:solidFill>
            <a:srgbClr val="2E3B55"/>
          </a:solidFill>
          <a:ln/>
        </p:spPr>
      </p:sp>
      <p:pic>
        <p:nvPicPr>
          <p:cNvPr id="4" name="Image 0" descr="/home/claude/ppt/icon_pl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3074" y="1815998"/>
            <a:ext cx="482803" cy="482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8346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4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45836" y="4251960"/>
            <a:ext cx="1097280" cy="0"/>
          </a:xfrm>
          <a:prstGeom prst="line">
            <a:avLst/>
          </a:prstGeom>
          <a:noFill/>
          <a:ln w="25400">
            <a:solidFill>
              <a:srgbClr val="F4A82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 for Energy-Optimal Trajectory Planning of UAVs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2026-08-30T03:59:19Z</dcterms:created>
  <dcterms:modified xsi:type="dcterms:W3CDTF">2026-08-30T03:59:19Z</dcterms:modified>
</cp:coreProperties>
</file>